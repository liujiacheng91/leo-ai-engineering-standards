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/>
              <a:t>Saved Hours by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Saved Hours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Rule/Trigger</c:v>
                </c:pt>
                <c:pt idx="1">
                  <c:v>Calculation</c:v>
                </c:pt>
                <c:pt idx="2">
                  <c:v>Field</c:v>
                </c:pt>
                <c:pt idx="3">
                  <c:v>Bug Fix</c:v>
                </c:pt>
                <c:pt idx="4">
                  <c:v>Trigger Ctrl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6.75</c:v>
                </c:pt>
                <c:pt idx="1">
                  <c:v>4</c:v>
                </c:pt>
                <c:pt idx="2">
                  <c:v>2.75</c:v>
                </c:pt>
                <c:pt idx="3">
                  <c:v>2.2000000000000002</c:v>
                </c:pt>
                <c:pt idx="4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FD-4FF3-9329-EA4098751C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057400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585858"/>
                </a:solidFill>
                <a:latin typeface="Microsoft YaHei"/>
              </a:defRPr>
            </a:pPr>
            <a:r>
              <a:t>FREIGHTLIST AI-assisted SDLC Case Portfolio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789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KLN Solution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7899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 辅助研发案例汇总与风险收益评估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5176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FFFFFF"/>
                </a:solidFill>
                <a:latin typeface="Microsoft YaHei"/>
              </a:defRPr>
            </a:pPr>
            <a:r>
              <a:t>基于 21 个 FREIGHTLIST 真实案例的 Token / Cost / Saved Hours / Risk / Reusable 治理复盘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64922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1">
                <a:solidFill>
                  <a:srgbClr val="232323"/>
                </a:solidFill>
                <a:latin typeface="Microsoft YaHei"/>
              </a:defRPr>
            </a:pPr>
            <a:r>
              <a:t>从“单案成功”升级为“可治理、可复用、可度量”的 AI 工程流程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343400"/>
            <a:ext cx="6583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585858"/>
                </a:solidFill>
                <a:latin typeface="Microsoft YaHei"/>
              </a:defRPr>
            </a:pPr>
            <a:r>
              <a:t>重点：风险收益表、Case Type 分流、Yellow Verification Gate、模型路由与 Case Library 资产化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92040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4892040"/>
            <a:ext cx="64008" cy="658368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5056631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6F26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53212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案例总数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4892040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59" y="4892040"/>
            <a:ext cx="64008" cy="658368"/>
          </a:xfrm>
          <a:prstGeom prst="rect">
            <a:avLst/>
          </a:prstGeom>
          <a:solidFill>
            <a:srgbClr val="307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1" y="5056631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070B3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1" y="553212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可量化案例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4892040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79" y="4892040"/>
            <a:ext cx="64008" cy="658368"/>
          </a:xfrm>
          <a:prstGeom prst="rect">
            <a:avLst/>
          </a:prstGeom>
          <a:solidFill>
            <a:srgbClr val="249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1" y="5056631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905C"/>
                </a:solidFill>
                <a:latin typeface="Microsoft YaHei"/>
              </a:defRPr>
            </a:pPr>
            <a:r>
              <a:t>16.35h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553212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累计节省工时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669279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5669279"/>
            <a:ext cx="64008" cy="658368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5833871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6F26"/>
                </a:solidFill>
                <a:latin typeface="Microsoft YaHei"/>
              </a:defRPr>
            </a:pPr>
            <a:r>
              <a:t>$39.88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6309359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累计 AI 成本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5669279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80559" y="5669279"/>
            <a:ext cx="64008" cy="658368"/>
          </a:xfrm>
          <a:prstGeom prst="rect">
            <a:avLst/>
          </a:prstGeom>
          <a:solidFill>
            <a:srgbClr val="D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45151" y="5833871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8922A"/>
                </a:solidFill>
                <a:latin typeface="Microsoft YaHei"/>
              </a:defRPr>
            </a:pPr>
            <a:r>
              <a:t>$2.44/h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1" y="6309359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综合 Cost / Saved Hour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5669279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83879" y="5669279"/>
            <a:ext cx="64008" cy="658368"/>
          </a:xfrm>
          <a:prstGeom prst="rect">
            <a:avLst/>
          </a:prstGeom>
          <a:solidFill>
            <a:srgbClr val="249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48471" y="5833871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905C"/>
                </a:solidFill>
                <a:latin typeface="Microsoft YaHei"/>
              </a:defRPr>
            </a:pPr>
            <a:r>
              <a:t>18/20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6309359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Retry =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一页总结：AI 辅助研发已经进入“可治理实践”阶段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从代码生成能力验证，转向质量、成本、风险和复用资产的管理闭环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3832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841248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6F26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案例总数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325880"/>
            <a:ext cx="33832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325880"/>
            <a:ext cx="64008" cy="841248"/>
          </a:xfrm>
          <a:prstGeom prst="rect">
            <a:avLst/>
          </a:prstGeom>
          <a:solidFill>
            <a:srgbClr val="307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070B3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可量化案例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325880"/>
            <a:ext cx="33832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1325880"/>
            <a:ext cx="64008" cy="841248"/>
          </a:xfrm>
          <a:prstGeom prst="rect">
            <a:avLst/>
          </a:prstGeom>
          <a:solidFill>
            <a:srgbClr val="249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905C"/>
                </a:solidFill>
                <a:latin typeface="Microsoft YaHei"/>
              </a:defRPr>
            </a:pPr>
            <a:r>
              <a:t>16.35h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累计节省工时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377439"/>
            <a:ext cx="33832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377439"/>
            <a:ext cx="64008" cy="841248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254203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6F26"/>
                </a:solidFill>
                <a:latin typeface="Microsoft YaHei"/>
              </a:defRPr>
            </a:pPr>
            <a:r>
              <a:t>$39.88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0175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累计 AI 成本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2377439"/>
            <a:ext cx="33832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2377439"/>
            <a:ext cx="64008" cy="841248"/>
          </a:xfrm>
          <a:prstGeom prst="rect">
            <a:avLst/>
          </a:prstGeom>
          <a:solidFill>
            <a:srgbClr val="D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45152" y="254203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8922A"/>
                </a:solidFill>
                <a:latin typeface="Microsoft YaHei"/>
              </a:defRPr>
            </a:pPr>
            <a:r>
              <a:t>$2.44/h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0175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综合 Cost / Saved Hour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377439"/>
            <a:ext cx="33832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20" y="2377439"/>
            <a:ext cx="64008" cy="841248"/>
          </a:xfrm>
          <a:prstGeom prst="rect">
            <a:avLst/>
          </a:prstGeom>
          <a:solidFill>
            <a:srgbClr val="249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2" y="254203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905C"/>
                </a:solidFill>
                <a:latin typeface="Microsoft YaHei"/>
              </a:defRPr>
            </a:pPr>
            <a:r>
              <a:t>18/20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30175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  <a:latin typeface="Microsoft YaHei"/>
              </a:defRPr>
            </a:pPr>
            <a:r>
              <a:t>Retry =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657600"/>
            <a:ext cx="5166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3767328"/>
            <a:ext cx="4846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232323"/>
                </a:solidFill>
                <a:latin typeface="Microsoft YaHei"/>
              </a:defRPr>
            </a:pPr>
            <a:r>
              <a:t>成本可控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4050791"/>
            <a:ext cx="4846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585858"/>
                </a:solidFill>
                <a:latin typeface="Microsoft YaHei"/>
              </a:defRPr>
            </a:pPr>
            <a:r>
              <a:t>Token / Cost / Retry / Model 被纳入统一报告；异常成本可定位。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657600"/>
            <a:ext cx="5166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3952" y="3767328"/>
            <a:ext cx="4846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232323"/>
                </a:solidFill>
                <a:latin typeface="Microsoft YaHei"/>
              </a:defRPr>
            </a:pPr>
            <a:r>
              <a:t>质量可验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050791"/>
            <a:ext cx="4846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585858"/>
                </a:solidFill>
                <a:latin typeface="Microsoft YaHei"/>
              </a:defRPr>
            </a:pPr>
            <a:r>
              <a:t>Scenario / Test / Verify / Merge Decision 形成过程闭环。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617720"/>
            <a:ext cx="5166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" y="4727448"/>
            <a:ext cx="4846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232323"/>
                </a:solidFill>
                <a:latin typeface="Microsoft YaHei"/>
              </a:defRPr>
            </a:pPr>
            <a:r>
              <a:t>风险可管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5010912"/>
            <a:ext cx="4846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585858"/>
                </a:solidFill>
                <a:latin typeface="Microsoft YaHei"/>
              </a:defRPr>
            </a:pPr>
            <a:r>
              <a:t>Yellow / Green 分级明确，临时关闭类需要强治理。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617720"/>
            <a:ext cx="5166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3952" y="4727448"/>
            <a:ext cx="4846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232323"/>
                </a:solidFill>
                <a:latin typeface="Microsoft YaHei"/>
              </a:defRPr>
            </a:pPr>
            <a:r>
              <a:t>资产可复用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5010912"/>
            <a:ext cx="4846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585858"/>
                </a:solidFill>
                <a:latin typeface="Microsoft YaHei"/>
              </a:defRPr>
            </a:pPr>
            <a:r>
              <a:t>案例沉淀为 Pattern、Checklist、Template 与 Case Library。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89788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50" b="1">
                <a:solidFill>
                  <a:srgbClr val="CC5216"/>
                </a:solidFill>
                <a:latin typeface="Microsoft YaHei"/>
              </a:defRPr>
            </a:pPr>
            <a:r>
              <a:t>核心观点：AI 的价值不只是“少花时间”，而是让研发过程具备可审计、可复盘、可治理的工程属性。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Before / After：从单案执行到组合治理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将 21 个 Case 从分散经验转化为可复制的管理模型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2578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1444752"/>
            <a:ext cx="1965960" cy="310896"/>
          </a:xfrm>
          <a:prstGeom prst="round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Before：单案执行 / 流程偏重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1965960"/>
            <a:ext cx="457200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232323"/>
                </a:solidFill>
                <a:latin typeface="Microsoft YaHei"/>
              </a:defRPr>
            </a:pPr>
            <a:r>
              <a:t>• 小任务也走完整文档，成本偏高</a:t>
            </a:r>
          </a:p>
          <a:p>
            <a:pPr>
              <a:defRPr sz="1200" b="0">
                <a:solidFill>
                  <a:srgbClr val="232323"/>
                </a:solidFill>
                <a:latin typeface="Microsoft YaHei"/>
              </a:defRPr>
            </a:pPr>
            <a:r>
              <a:t>• Green / 小型 Yellow 默认 Opus</a:t>
            </a:r>
          </a:p>
          <a:p>
            <a:pPr>
              <a:defRPr sz="1200" b="0">
                <a:solidFill>
                  <a:srgbClr val="232323"/>
                </a:solidFill>
                <a:latin typeface="Microsoft YaHei"/>
              </a:defRPr>
            </a:pPr>
            <a:r>
              <a:t>• 测试多为静态 Test.md，执行不足</a:t>
            </a:r>
          </a:p>
          <a:p>
            <a:pPr>
              <a:defRPr sz="1200" b="0">
                <a:solidFill>
                  <a:srgbClr val="232323"/>
                </a:solidFill>
                <a:latin typeface="Microsoft YaHei"/>
              </a:defRPr>
            </a:pPr>
            <a:r>
              <a:t>• Reusable = Yes/No，资产价值未分层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2578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46520" y="1444752"/>
            <a:ext cx="1965960" cy="310896"/>
          </a:xfrm>
          <a:prstGeom prst="roundRect">
            <a:avLst/>
          </a:prstGeom>
          <a:solidFill>
            <a:srgbClr val="249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After：分类治理 / 持续优化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965960"/>
            <a:ext cx="457200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232323"/>
                </a:solidFill>
                <a:latin typeface="Microsoft YaHei"/>
              </a:defRPr>
            </a:pPr>
            <a:r>
              <a:t>• 按 Case Type 分流：Framework / Bug Fix / Calculation</a:t>
            </a:r>
          </a:p>
          <a:p>
            <a:pPr>
              <a:defRPr sz="1200" b="0">
                <a:solidFill>
                  <a:srgbClr val="232323"/>
                </a:solidFill>
                <a:latin typeface="Microsoft YaHei"/>
              </a:defRPr>
            </a:pPr>
            <a:r>
              <a:t>• Mini Flow + Model Routing 降低成本</a:t>
            </a:r>
          </a:p>
          <a:p>
            <a:pPr>
              <a:defRPr sz="1200" b="0">
                <a:solidFill>
                  <a:srgbClr val="232323"/>
                </a:solidFill>
                <a:latin typeface="Microsoft YaHei"/>
              </a:defRPr>
            </a:pPr>
            <a:r>
              <a:t>• Yellow Verification Gate 强化测试闭环</a:t>
            </a:r>
          </a:p>
          <a:p>
            <a:pPr>
              <a:defRPr sz="1200" b="0">
                <a:solidFill>
                  <a:srgbClr val="232323"/>
                </a:solidFill>
                <a:latin typeface="Microsoft YaHei"/>
              </a:defRPr>
            </a:pPr>
            <a:r>
              <a:t>• Reusable 分为 Code / Pattern / Checklist /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106984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CC5216"/>
                </a:solidFill>
                <a:latin typeface="Microsoft YaHei"/>
              </a:defRPr>
            </a:pPr>
            <a:r>
              <a:t>管理转变：不是让所有 Case 都更重，而是让不同风险 / 收益 / 复杂度的 Case 进入合适的流程与模型。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数据视图：按 Case Type 看收益与成本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Rule / Trigger 与 Calculation Logic 是核心收益来源；Trigger Control 成本效率最弱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696461"/>
              </p:ext>
            </p:extLst>
          </p:nvPr>
        </p:nvGraphicFramePr>
        <p:xfrm>
          <a:off x="411480" y="1234440"/>
          <a:ext cx="5257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类型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案例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Token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Cost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Saved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Cost/h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Rule / Trigger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598K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$13.27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6.75h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$1.97/h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Calculation Logic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503K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$9.23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4.00h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$2.31/h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Field Completion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470K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$7.35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2.75h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$2.67/h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Bug Fix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317K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$6.23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2.20h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$2.83/h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Trigger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208K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$3.80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0.65h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/>
                        <a:t>$5.85/h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178040" y="1325880"/>
          <a:ext cx="44348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4663440"/>
            <a:ext cx="42519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232323"/>
                </a:solidFill>
                <a:latin typeface="Microsoft YaHei"/>
              </a:defRPr>
            </a:pPr>
            <a:r>
              <a:t>观察：Rule/Trigger Framework 累计节省最高；Calculation Logic 单案价值高；Temporary Disable 类不应以 ROI 为唯一判断。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风险收益表：按场景决定流程与治理强度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新增 Risk-Benefit Matrix，支撑后续推广优先级和控制要求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055964"/>
              </p:ext>
            </p:extLst>
          </p:nvPr>
        </p:nvGraphicFramePr>
        <p:xfrm>
          <a:off x="228600" y="1143000"/>
          <a:ext cx="11750039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 dirty="0"/>
                        <a:t>Case Type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收益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风险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收益来源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主要风险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控制措施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/>
                        <a:t>Framework / Foundation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复用框架、降低后续复杂度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stub 未完成、目标表偏差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Stub 跟踪 + 后续 Case 关闭条件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Rule Field / DB Logic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/>
                        <a:t>高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 err="1"/>
                        <a:t>中高</a:t>
                      </a:r>
                      <a:endParaRPr sz="1000" dirty="0"/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复杂规则与 DB 读取快速补齐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边界场景、无单测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P0 单测 / 最小回归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Field Completion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/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 err="1"/>
                        <a:t>字段链路补齐稳定</a:t>
                      </a:r>
                      <a:endParaRPr sz="10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小改动重流程，ROI 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Mini Flow + 落库验证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Bug Fix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中高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中高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AI 定位快，Owner 纠偏准确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 err="1"/>
                        <a:t>字段来源</a:t>
                      </a:r>
                      <a:r>
                        <a:rPr sz="1000" dirty="0"/>
                        <a:t> / </a:t>
                      </a:r>
                      <a:r>
                        <a:rPr sz="1000" dirty="0" err="1"/>
                        <a:t>风格一致性</a:t>
                      </a:r>
                      <a:endParaRPr sz="1000" dirty="0"/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Root Cause + Source + Style Check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Calculation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金额/GP/历史计算业务价值高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 err="1"/>
                        <a:t>精度、Total、边界数据</a:t>
                      </a:r>
                      <a:endParaRPr sz="10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Calculation P0 Checklist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Temporary Disable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低中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高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短期解除阻断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 err="1"/>
                        <a:t>业务控制绕过</a:t>
                      </a:r>
                      <a:endParaRPr sz="1000" dirty="0"/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/>
                        <a:t>Owner / Expiry / Rollback / Monitoring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Green / Small 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低中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低中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小改动交付稳定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Opus + 文档成本偏高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 err="1"/>
                        <a:t>低成本模型</a:t>
                      </a:r>
                      <a:r>
                        <a:rPr sz="1000" dirty="0"/>
                        <a:t> + Green Mini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风险收益象限：推广优先级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高收益可控风险场景优先资产化；高风险低收益场景强治理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325880"/>
            <a:ext cx="4983480" cy="2240280"/>
          </a:xfrm>
          <a:prstGeom prst="rect">
            <a:avLst/>
          </a:prstGeom>
          <a:solidFill>
            <a:srgbClr val="FFF9F0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4983480" cy="2240280"/>
          </a:xfrm>
          <a:prstGeom prst="rect">
            <a:avLst/>
          </a:prstGeom>
          <a:solidFill>
            <a:srgbClr val="F2FAF4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3566160"/>
            <a:ext cx="4983480" cy="2240280"/>
          </a:xfrm>
          <a:prstGeom prst="rect">
            <a:avLst/>
          </a:prstGeom>
          <a:solidFill>
            <a:srgbClr val="FDF1F1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3566160"/>
            <a:ext cx="4983480" cy="2240280"/>
          </a:xfrm>
          <a:prstGeom prst="rect">
            <a:avLst/>
          </a:prstGeom>
          <a:solidFill>
            <a:srgbClr val="FFF7EB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0176" y="1325880"/>
            <a:ext cx="18288" cy="4480560"/>
          </a:xfrm>
          <a:prstGeom prst="rect">
            <a:avLst/>
          </a:prstGeom>
          <a:solidFill>
            <a:srgbClr val="E1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" y="3557016"/>
            <a:ext cx="9966960" cy="18288"/>
          </a:xfrm>
          <a:prstGeom prst="rect">
            <a:avLst/>
          </a:prstGeom>
          <a:solidFill>
            <a:srgbClr val="E1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1417320"/>
            <a:ext cx="3657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1">
                <a:solidFill>
                  <a:srgbClr val="585858"/>
                </a:solidFill>
                <a:latin typeface="Microsoft YaHei"/>
              </a:defRPr>
            </a:pPr>
            <a:r>
              <a:t>低收益 / 低风险</a:t>
            </a:r>
          </a:p>
          <a:p>
            <a:pPr>
              <a:defRPr sz="950" b="1">
                <a:solidFill>
                  <a:srgbClr val="585858"/>
                </a:solidFill>
                <a:latin typeface="Microsoft YaHei"/>
              </a:defRPr>
            </a:pPr>
            <a:r>
              <a:t>Green Small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41732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1">
                <a:solidFill>
                  <a:srgbClr val="24905C"/>
                </a:solidFill>
                <a:latin typeface="Microsoft YaHei"/>
              </a:defRPr>
            </a:pPr>
            <a:r>
              <a:t>高收益 / 低-中风险</a:t>
            </a:r>
          </a:p>
          <a:p>
            <a:pPr>
              <a:defRPr sz="950" b="1">
                <a:solidFill>
                  <a:srgbClr val="24905C"/>
                </a:solidFill>
                <a:latin typeface="Microsoft YaHei"/>
              </a:defRPr>
            </a:pPr>
            <a:r>
              <a:t>Framework / Field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57600"/>
            <a:ext cx="42062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1">
                <a:solidFill>
                  <a:srgbClr val="C44646"/>
                </a:solidFill>
                <a:latin typeface="Microsoft YaHei"/>
              </a:defRPr>
            </a:pPr>
            <a:r>
              <a:t>低收益 / 高风险</a:t>
            </a:r>
          </a:p>
          <a:p>
            <a:pPr>
              <a:defRPr sz="950" b="1">
                <a:solidFill>
                  <a:srgbClr val="C44646"/>
                </a:solidFill>
                <a:latin typeface="Microsoft YaHei"/>
              </a:defRPr>
            </a:pPr>
            <a:r>
              <a:t>Temporary Disable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5760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1">
                <a:solidFill>
                  <a:srgbClr val="CC5216"/>
                </a:solidFill>
                <a:latin typeface="Microsoft YaHei"/>
              </a:defRPr>
            </a:pPr>
            <a:r>
              <a:t>高收益 / 高风险</a:t>
            </a:r>
          </a:p>
          <a:p>
            <a:pPr>
              <a:defRPr sz="950" b="1">
                <a:solidFill>
                  <a:srgbClr val="CC5216"/>
                </a:solidFill>
                <a:latin typeface="Microsoft YaHei"/>
              </a:defRPr>
            </a:pPr>
            <a:r>
              <a:t>Calculation / DB / Bug Fix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1920240"/>
            <a:ext cx="1417320" cy="530352"/>
          </a:xfrm>
          <a:prstGeom prst="ellipse">
            <a:avLst/>
          </a:prstGeom>
          <a:solidFill>
            <a:srgbClr val="249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Rule Framework</a:t>
            </a:r>
          </a:p>
        </p:txBody>
      </p:sp>
      <p:sp>
        <p:nvSpPr>
          <p:cNvPr id="19" name="Oval 18"/>
          <p:cNvSpPr/>
          <p:nvPr/>
        </p:nvSpPr>
        <p:spPr>
          <a:xfrm>
            <a:off x="7498079" y="2788920"/>
            <a:ext cx="1417320" cy="530352"/>
          </a:xfrm>
          <a:prstGeom prst="ellipse">
            <a:avLst/>
          </a:prstGeom>
          <a:solidFill>
            <a:srgbClr val="249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Field Chain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0" y="4617720"/>
            <a:ext cx="1417320" cy="530352"/>
          </a:xfrm>
          <a:prstGeom prst="ellipse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Calculation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5074920"/>
            <a:ext cx="1417320" cy="530352"/>
          </a:xfrm>
          <a:prstGeom prst="ellipse">
            <a:avLst/>
          </a:prstGeom>
          <a:solidFill>
            <a:srgbClr val="D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Bug Fix</a:t>
            </a:r>
          </a:p>
        </p:txBody>
      </p:sp>
      <p:sp>
        <p:nvSpPr>
          <p:cNvPr id="22" name="Oval 21"/>
          <p:cNvSpPr/>
          <p:nvPr/>
        </p:nvSpPr>
        <p:spPr>
          <a:xfrm>
            <a:off x="2880360" y="4800600"/>
            <a:ext cx="1417320" cy="530352"/>
          </a:xfrm>
          <a:prstGeom prst="ellipse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Temp Disable</a:t>
            </a:r>
          </a:p>
        </p:txBody>
      </p:sp>
      <p:sp>
        <p:nvSpPr>
          <p:cNvPr id="23" name="Oval 22"/>
          <p:cNvSpPr/>
          <p:nvPr/>
        </p:nvSpPr>
        <p:spPr>
          <a:xfrm>
            <a:off x="2834640" y="2468880"/>
            <a:ext cx="1417320" cy="530352"/>
          </a:xfrm>
          <a:prstGeom prst="ellipse">
            <a:avLst/>
          </a:prstGeom>
          <a:solidFill>
            <a:srgbClr val="5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Green Small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1">
                <a:solidFill>
                  <a:srgbClr val="232323"/>
                </a:solidFill>
                <a:latin typeface="Microsoft YaHei"/>
              </a:defRPr>
            </a:pPr>
            <a:r>
              <a:t>结论：Framework、Field Chain、Calculation Pattern 可优先资产化；Temporary Disable 仅允许例外使用且必须有恢复计划。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重点案例：收益、成本与复用价值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选择管理价值最高或治理风险最强的代表案例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264088"/>
              </p:ext>
            </p:extLst>
          </p:nvPr>
        </p:nvGraphicFramePr>
        <p:xfrm>
          <a:off x="411480" y="1234440"/>
          <a:ext cx="114300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Saved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Cost/h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管理评价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ic-trigger-match-fields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Rule Batch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2.5h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$1.17/h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AC 5/5，20 用例设计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node5-calc-gp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Calculation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2.0h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$2.29/h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AgentType GP Assignment 样板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ic-trigger-dest-country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Refactor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1.5h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$1.95/h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前案复用 + 通用方法抽取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ic-final-diff-amount Series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Calculation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2.0h+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$1.5–3.0/h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历史差额计算连续优化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ic-section-header-ic-type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Field 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0.75h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$1.07/h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Entity + Mapper + Node 模板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ic-ap-released-disable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Temp Disable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0.4h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$7.50/h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 err="1"/>
                        <a:t>需恢复计划与业务控制豁免</a:t>
                      </a:r>
                      <a:endParaRPr sz="1000" dirty="0"/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89788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1">
                <a:solidFill>
                  <a:srgbClr val="CC5216"/>
                </a:solidFill>
                <a:latin typeface="Microsoft YaHei"/>
              </a:defRPr>
            </a:pPr>
            <a:r>
              <a:t>建议：将 node5-calc-gp、ic-final-diff-amount 系列、ic-section-header-ic-type、ic-trigger-rule-match 纳入正式 Case Library。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PDCA 闭环：把案例复盘变成标准升级机制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每一次 Case 都是对流程、模型、测试和治理规则的一次验证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24688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21031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EF6F26"/>
                </a:solidFill>
                <a:latin typeface="Microsoft YaHei"/>
              </a:defRPr>
            </a:pPr>
            <a:r>
              <a:t>P</a:t>
            </a:r>
          </a:p>
          <a:p>
            <a:pPr>
              <a:defRPr sz="2000" b="1">
                <a:solidFill>
                  <a:srgbClr val="EF6F26"/>
                </a:solidFill>
                <a:latin typeface="Microsoft YaHei"/>
              </a:defRPr>
            </a:pPr>
            <a: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103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323"/>
                </a:solidFill>
                <a:latin typeface="Microsoft YaHei"/>
              </a:defRPr>
            </a:pPr>
            <a:r>
              <a:t>定义 Case Type、Risk、Model Route、Verification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508760"/>
            <a:ext cx="24688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21031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3070B3"/>
                </a:solidFill>
                <a:latin typeface="Microsoft YaHei"/>
              </a:defRPr>
            </a:pPr>
            <a:r>
              <a:t>D</a:t>
            </a:r>
          </a:p>
          <a:p>
            <a:pPr>
              <a:defRPr sz="2000" b="1">
                <a:solidFill>
                  <a:srgbClr val="3070B3"/>
                </a:solidFill>
                <a:latin typeface="Microsoft YaHei"/>
              </a:defRPr>
            </a:pPr>
            <a:r>
              <a:t>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06040"/>
            <a:ext cx="2103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323"/>
                </a:solidFill>
                <a:latin typeface="Microsoft YaHei"/>
              </a:defRPr>
            </a:pPr>
            <a:r>
              <a:t>按 Mini Flow / Full Flow 执行，避免一套流程打所有场景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59" y="1508760"/>
            <a:ext cx="24688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737360"/>
            <a:ext cx="21031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24905C"/>
                </a:solidFill>
                <a:latin typeface="Microsoft YaHei"/>
              </a:defRPr>
            </a:pPr>
            <a:r>
              <a:t>C</a:t>
            </a:r>
          </a:p>
          <a:p>
            <a:pPr>
              <a:defRPr sz="2000" b="1">
                <a:solidFill>
                  <a:srgbClr val="24905C"/>
                </a:solidFill>
                <a:latin typeface="Microsoft YaHei"/>
              </a:defRPr>
            </a:pPr>
            <a: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06040"/>
            <a:ext cx="2103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323"/>
                </a:solidFill>
                <a:latin typeface="Microsoft YaHei"/>
              </a:defRPr>
            </a:pPr>
            <a:r>
              <a:t>复盘 Token / Cost / Retry / Test Executed / Reusable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19" y="1508760"/>
            <a:ext cx="24688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199" y="1737360"/>
            <a:ext cx="21031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D8922A"/>
                </a:solidFill>
                <a:latin typeface="Microsoft YaHei"/>
              </a:defRPr>
            </a:pPr>
            <a:r>
              <a:t>A</a:t>
            </a:r>
          </a:p>
          <a:p>
            <a:pPr>
              <a:defRPr sz="2000" b="1">
                <a:solidFill>
                  <a:srgbClr val="D8922A"/>
                </a:solidFill>
                <a:latin typeface="Microsoft YaHei"/>
              </a:defRPr>
            </a:pPr>
            <a: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9" y="2606040"/>
            <a:ext cx="2103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323"/>
                </a:solidFill>
                <a:latin typeface="Microsoft YaHei"/>
              </a:defRPr>
            </a:pPr>
            <a:r>
              <a:t>沉淀 Pattern / Checklist / Template / Case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789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232323"/>
                </a:solidFill>
                <a:latin typeface="Microsoft YaHei"/>
              </a:defRPr>
            </a:pPr>
            <a:r>
              <a:t>Act 的重点不是“再写一份总结”，而是把偏差转化为下一版流程资产：例如 Yellow Gate、Calculation P0 Checklist、Temporary Disable Governance。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问题清单：下一阶段治理重点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把共性问题转为明确的管理动作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98622"/>
              </p:ext>
            </p:extLst>
          </p:nvPr>
        </p:nvGraphicFramePr>
        <p:xfrm>
          <a:off x="411480" y="1143000"/>
          <a:ext cx="11384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表现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建议动作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测试闭环不足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多个 Yellow Case 只有 Test.md / Verify.md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Yellow Minimum Verification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模型路由不足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Green / 小型 Yellow 仍大量使用 Opus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中高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Opus 用于设计/Review；编码与文档降级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ROI 口径不一致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Saved Hours / Cost / Stage Token 需修正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统一公式；补 Context Recovery 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临时关闭治理不足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AP Released disable 缺恢复计划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高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Business Control Waiver 模板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Reusable 过于简单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Pattern / Checklist 未计入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/>
                        <a:t>Code / Pattern / Checklist / Process </a:t>
                      </a:r>
                      <a:r>
                        <a:rPr sz="1000" dirty="0" err="1"/>
                        <a:t>分层</a:t>
                      </a:r>
                      <a:endParaRPr sz="10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C44646"/>
                </a:solidFill>
                <a:latin typeface="Microsoft YaHei"/>
              </a:defRPr>
            </a:pPr>
            <a:r>
              <a:t>优先级：测试闭环与临时关闭治理属于质量风险；模型路由与 Mini Flow 属于成本风险；ROI / Reusable 口径属于管理可信度风险。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建议治理模型：Case Type 分流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不同复杂度与风险场景，应进入不同流程、模型和测试门槛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160013"/>
              </p:ext>
            </p:extLst>
          </p:nvPr>
        </p:nvGraphicFramePr>
        <p:xfrm>
          <a:off x="320040" y="1143000"/>
          <a:ext cx="115671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273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类型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流程策略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测试/治理门槛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模型策略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复用资产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Framework / Foundation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Full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Stub 跟踪 + 后续 Case 关闭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Opus 可接受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Framework Reusable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Rule Field / DB Logic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Full Flow + Review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P0 单测 / 最小回归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Opus / 高能力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Pattern + Checklist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Field Completion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Mini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字段落库验证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中低成本优先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Field Completion Pattern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Bug Fix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Root Cause Flow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复现 / 修复验证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定位可 Opus，编码可降级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Diagnosis Checklist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Calculation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Calculation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金额 / Total / 精度 P0 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Opus 设计 + 降级实现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Calculation Pattern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Temporary Disable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Strong Governance Mini Flow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恢复计划 + 监控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/>
                        <a:t>模型非重点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000" dirty="0"/>
                        <a:t>Waiver Pattern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落地模板与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用少量强制字段替代重复文档，提升质量并降低成本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481328"/>
            <a:ext cx="1965960" cy="310896"/>
          </a:xfrm>
          <a:prstGeom prst="roundRect">
            <a:avLst/>
          </a:prstGeom>
          <a:solidFill>
            <a:srgbClr val="307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Verification &amp; Mini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01952"/>
            <a:ext cx="466344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Yellow Minimum Verification Gate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是否执行测试：Executed / Not Executed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未执行必须说明原因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DB / Node / Trigger / 金额计算需 P0 验证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合并后验证责任人必须明确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endParaRPr/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Green / Small Change Mini Flow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Requirement + Risk Reason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Change Scope + Caller Impact Check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P0 Checklist + Compile Evidence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Token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1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92240" y="1481328"/>
            <a:ext cx="1965960" cy="310896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Calculation &amp; Waiver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901952"/>
            <a:ext cx="466344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Calculation Logic P0 Checklist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正常 / 空 / 多条历史记录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金额 0 / null / 负数 / BigDecimal 精度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分组 / Station / AgentType 归属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Total 汇总一致性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endParaRPr/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Temporary Disable Governance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Disable Reason / Approved By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Effective Date / Expiry Date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Recovery Owner / Rollback Plan</a:t>
            </a:r>
          </a:p>
          <a:p>
            <a:pPr>
              <a:defRPr sz="1130" b="0">
                <a:solidFill>
                  <a:srgbClr val="232323"/>
                </a:solidFill>
                <a:latin typeface="Microsoft YaHei"/>
              </a:defRPr>
            </a:pPr>
            <a:r>
              <a:t>• Monitoring During Disable Period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模型路由与成本控制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避免 Green / 小型 Yellow 全流程使用 Opus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942566"/>
              </p:ext>
            </p:extLst>
          </p:nvPr>
        </p:nvGraphicFramePr>
        <p:xfrm>
          <a:off x="822960" y="123444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100"/>
                        <a:t>场景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100"/>
                        <a:t>推荐模型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100"/>
                        <a:t>管理理由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框架设计 / 复杂业务规则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Opus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保留高质量推理与方案判断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金额计算方案设计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Opus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用于边界与业务语义判断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单字段 setter / Mapper 补充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Sonnet / 中低成本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降低小任务单位成本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Green 一行 Bug Fix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低成本模型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目标 Total Token ≤ 30K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Test / Verify / Case 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模板化 / 低成本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减少 Documentation 30K 级别消耗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高风险最终 Review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/>
                        <a:t>Opus 可选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rPr sz="1100" dirty="0" err="1"/>
                        <a:t>只在关键节点升级，而非全流程使用</a:t>
                      </a:r>
                      <a:endParaRPr sz="1100" dirty="0"/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623560"/>
            <a:ext cx="10241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50" b="1">
                <a:solidFill>
                  <a:srgbClr val="CC5216"/>
                </a:solidFill>
                <a:latin typeface="Microsoft YaHei"/>
              </a:defRPr>
            </a:pPr>
            <a:r>
              <a:t>目标：将 Green / 小型 Yellow 任务从 $3–7/h 降至接近 BizDB / Sonnet 参考水平，同时保留复杂场景的质量判断能力。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推进路线图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从案例总结走向团队级 AI Engineering 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371600"/>
          <a:ext cx="106527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重点动作</a:t>
                      </a:r>
                    </a:p>
                  </a:txBody>
                  <a:tcPr anchor="ctr">
                    <a:solidFill>
                      <a:srgbClr val="EF6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1–2 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修正 ROI 与 Token 口径；补 Closing Docs / Context Recovery；为临时关闭补恢复计划；补 Calculation P0 测试清单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1 个月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建立 Mini Flow、Yellow Verification Gate、模型路由、Reusable 分层字段、Case Library 分类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季度级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形成 AI-assisted SDLC Dashboard；按 Token / Cost / Saved / Retry / Test Executed / Reusable Pattern 运营治理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4160520"/>
            <a:ext cx="1042416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EF6F26"/>
                </a:solidFill>
                <a:latin typeface="Microsoft YaHei"/>
              </a:defRPr>
            </a:pPr>
            <a:r>
              <a:t>管理要求：后续所有案例进入统一 Case Library，必须记录 Risk、Token、Cost、Saved Hours、Retry、Test Executed、Reusable Type、Closing Docs / Context Recovery。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10424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成功标准：从“案例式成功”升级为“可复制、可审计、可治理、可量化”的 SDLC 能力。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  <a:latin typeface="Microsoft YaHei"/>
              </a:defRPr>
            </a:pPr>
            <a:r>
              <a:t>KLN Solution Deck  |  FREIGHTLIST AI Case Review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566928" cy="457200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Microsoft YaHei"/>
              </a:defRPr>
            </a:pPr>
            <a:r>
              <a:t>最终建议 | Management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82296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5858"/>
                </a:solidFill>
                <a:latin typeface="Microsoft YaHei"/>
              </a:defRPr>
            </a:pPr>
            <a:r>
              <a:t>建议批准进入下一阶段：Case Library + Mini Flow + Verification Gate + Model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85858"/>
                </a:solidFill>
                <a:latin typeface="Microsoft YaHei"/>
              </a:defRPr>
            </a:pPr>
            <a:r>
              <a:t>KLN AI Engineering Standard | Case Portfolio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1965960" cy="310896"/>
          </a:xfrm>
          <a:prstGeom prst="roundRect">
            <a:avLst/>
          </a:prstGeom>
          <a:solidFill>
            <a:srgbClr val="249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Go-forward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78992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0">
                <a:solidFill>
                  <a:srgbClr val="232323"/>
                </a:solidFill>
                <a:latin typeface="Microsoft YaHei"/>
              </a:defRPr>
            </a:pPr>
            <a:r>
              <a:t>1. 将 Rule Framework、Field Chain、Calculation Logic 三类作为优先推广样板。</a:t>
            </a:r>
          </a:p>
          <a:p>
            <a:pPr>
              <a:defRPr sz="1320" b="0">
                <a:solidFill>
                  <a:srgbClr val="232323"/>
                </a:solidFill>
                <a:latin typeface="Microsoft YaHei"/>
              </a:defRPr>
            </a:pPr>
            <a:r>
              <a:t>2. Green / 小型 Yellow 任务立即切换 Mini Flow，降低文档与模型成本。</a:t>
            </a:r>
          </a:p>
          <a:p>
            <a:pPr>
              <a:defRPr sz="1320" b="0">
                <a:solidFill>
                  <a:srgbClr val="232323"/>
                </a:solidFill>
                <a:latin typeface="Microsoft YaHei"/>
              </a:defRPr>
            </a:pPr>
            <a:r>
              <a:t>3. Yellow Case 必须建立最低测试门槛，尤其是 DB、金额计算、Trigger、Node 链路。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63240"/>
            <a:ext cx="1965960" cy="310896"/>
          </a:xfrm>
          <a:prstGeom prst="round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0">
                <a:solidFill>
                  <a:srgbClr val="232323"/>
                </a:solidFill>
                <a:latin typeface="Microsoft YaHei"/>
              </a:defRPr>
            </a:pPr>
            <a:r>
              <a:t>4. Temporary Disable 类必须按 Business Control Waiver 管理，不允许只有“固定 return true”而无恢复计划。</a:t>
            </a:r>
          </a:p>
          <a:p>
            <a:pPr>
              <a:defRPr sz="1320" b="0">
                <a:solidFill>
                  <a:srgbClr val="232323"/>
                </a:solidFill>
                <a:latin typeface="Microsoft YaHei"/>
              </a:defRPr>
            </a:pPr>
            <a:r>
              <a:t>5. 修正 ROI / Token 口径，建立 Closing Docs / Context Recovery 独立字段。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92040"/>
            <a:ext cx="1965960" cy="310896"/>
          </a:xfrm>
          <a:prstGeom prst="roundRect">
            <a:avLst/>
          </a:prstGeom>
          <a:solidFill>
            <a:srgbClr val="EF6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Assetization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7899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80" b="1">
                <a:solidFill>
                  <a:srgbClr val="CC5216"/>
                </a:solidFill>
                <a:latin typeface="Microsoft YaHei"/>
              </a:defRPr>
            </a:pPr>
            <a:r>
              <a:t>6. 建立多维 Reusable：Code / Pattern / Checklist / Process / Business Knowledge，把案例沉淀为团队资产。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1618</Words>
  <Application>Microsoft Office PowerPoint</Application>
  <PresentationFormat>宽屏</PresentationFormat>
  <Paragraphs>391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Wings F Xiao [CN-HO-ITS]</dc:creator>
  <cp:keywords/>
  <dc:description>generated using python-pptx</dc:description>
  <cp:lastModifiedBy>飞 肖</cp:lastModifiedBy>
  <cp:revision>2</cp:revision>
  <dcterms:created xsi:type="dcterms:W3CDTF">2026-05-29T06:48:03Z</dcterms:created>
  <dcterms:modified xsi:type="dcterms:W3CDTF">2026-05-29T07:30:15Z</dcterms:modified>
  <cp:category/>
</cp:coreProperties>
</file>